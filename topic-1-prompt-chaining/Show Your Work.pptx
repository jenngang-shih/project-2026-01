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Consolas"/>
              </a:rPr>
              <a:t>A FIVE-MINUTE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628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141A22"/>
                </a:solidFill>
                <a:latin typeface="Georgia"/>
              </a:rPr>
              <a:t>Show Your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704" y="3794760"/>
            <a:ext cx="7315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4B5563"/>
                </a:solidFill>
                <a:latin typeface="Arial"/>
              </a:rPr>
              <a:t>How we taught an AI writer to prove its claims before it's allowed</a:t>
            </a:r>
          </a:p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4B5563"/>
                </a:solidFill>
                <a:latin typeface="Arial"/>
              </a:rPr>
              <a:t>to publish anything — no tech background needed.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141A22"/>
                </a:solidFill>
                <a:latin typeface="Georgia"/>
              </a:rPr>
              <a:t>Let's start with something you've done a thousand times.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41A22"/>
                </a:solidFill>
                <a:latin typeface="Arial"/>
              </a:rPr>
              <a:t>You type one word into a search bar.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8704" y="3108960"/>
            <a:ext cx="73152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b="1" sz="2000">
                <a:solidFill>
                  <a:srgbClr val="141A22"/>
                </a:solidFill>
                <a:latin typeface="Arial"/>
              </a:rPr>
              <a:t>娛樂城  </a:t>
            </a:r>
            <a:r>
              <a:rPr sz="1600">
                <a:solidFill>
                  <a:srgbClr val="4B5563"/>
                </a:solidFill>
                <a:latin typeface="Arial"/>
              </a:rPr>
              <a:t>— Chinese for “entertainment city,” the everyday term for online
casino platforms in Taiwan.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>
                <a:solidFill>
                  <a:srgbClr val="4B5563"/>
                </a:solidFill>
                <a:latin typeface="Arial"/>
              </a:rPr>
              <a:t>Simple, right? Except...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28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141A22"/>
                </a:solidFill>
                <a:latin typeface="Georgia"/>
              </a:rPr>
              <a:t>...that one word means five different things,</a:t>
            </a:r>
          </a:p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141A22"/>
                </a:solidFill>
                <a:latin typeface="Georgia"/>
              </a:rPr>
              <a:t>depending on who's typing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2103120"/>
            <a:ext cx="926287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1640" y="2350008"/>
            <a:ext cx="457200" cy="457200"/>
          </a:xfrm>
          <a:prstGeom prst="ellipse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2B4C8C"/>
                </a:solidFill>
                <a:latin typeface="Consolas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103120"/>
            <a:ext cx="81381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41A22"/>
                </a:solidFill>
                <a:latin typeface="Arial"/>
              </a:rPr>
              <a:t>Already deposited money. Wants to know: will I actually get it back?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3273552"/>
            <a:ext cx="926287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91640" y="3520440"/>
            <a:ext cx="457200" cy="457200"/>
          </a:xfrm>
          <a:prstGeom prst="ellipse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2B4C8C"/>
                </a:solidFill>
                <a:latin typeface="Consola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273552"/>
            <a:ext cx="81381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41A22"/>
                </a:solidFill>
                <a:latin typeface="Arial"/>
              </a:rPr>
              <a:t>Got a link from a friend. Wants to know: is this real, or a scam?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4443984"/>
            <a:ext cx="926287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91640" y="4690872"/>
            <a:ext cx="457200" cy="457200"/>
          </a:xfrm>
          <a:prstGeom prst="ellipse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2B4C8C"/>
                </a:solidFill>
                <a:latin typeface="Consolas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443984"/>
            <a:ext cx="81381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41A22"/>
                </a:solidFill>
                <a:latin typeface="Arial"/>
              </a:rPr>
              <a:t>Just wants to know if the app is any good on their phone.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8932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1">
                <a:solidFill>
                  <a:srgbClr val="4B5563"/>
                </a:solidFill>
                <a:latin typeface="Arial"/>
              </a:rPr>
              <a:t>Same word. Completely different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141A22"/>
                </a:solidFill>
                <a:latin typeface="Georgia"/>
              </a:rPr>
              <a:t>Most content written for that word</a:t>
            </a:r>
          </a:p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141A22"/>
                </a:solidFill>
                <a:latin typeface="Georgia"/>
              </a:rPr>
              <a:t>ignores all of that.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704" y="3108960"/>
            <a:ext cx="7315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It's a generic list. Bonus percentages. A “top 5” ranking.</a:t>
            </a:r>
          </a:p>
          <a:p>
            <a:pPr algn="ctr">
              <a:lnSpc>
                <a:spcPct val="130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It tries to answer everyone's question at once — and ends up</a:t>
            </a:r>
          </a:p>
          <a:p>
            <a:pPr algn="ctr">
              <a:lnSpc>
                <a:spcPct val="130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answering no one's question well.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141A22"/>
                </a:solidFill>
                <a:latin typeface="Georgia"/>
              </a:rPr>
              <a:t>There's a second problem, and it's</a:t>
            </a:r>
          </a:p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141A22"/>
                </a:solidFill>
                <a:latin typeface="Georgia"/>
              </a:rPr>
              <a:t>the bigger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31352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Search engines are getting better at spotting writing that just</a:t>
            </a:r>
          </a:p>
          <a:p>
            <a:pPr algn="ctr">
              <a:lnSpc>
                <a:spcPct val="130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sounds confident — and starting to favor writing that actually</a:t>
            </a:r>
          </a:p>
          <a:p>
            <a:pPr algn="ctr">
              <a:lnSpc>
                <a:spcPct val="130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proves it knows what it's talking about.</a:t>
            </a:r>
          </a:p>
          <a:p>
            <a:pPr algn="ctr">
              <a:lnSpc>
                <a:spcPct val="130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Especially when the topic touches someone's money.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Consolas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965960"/>
            <a:ext cx="981151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41A22"/>
                </a:solidFill>
                <a:latin typeface="Georgia"/>
              </a:rPr>
              <a:t>What if the AI had to prove it,</a:t>
            </a:r>
          </a:p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41A22"/>
                </a:solidFill>
                <a:latin typeface="Georgia"/>
              </a:rPr>
              <a:t>before it could publish?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49039"/>
            <a:ext cx="85313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4B5563"/>
                </a:solidFill>
                <a:latin typeface="Arial"/>
              </a:rPr>
              <a:t>So we built a process where an AI writer isn't allowed to ship a</a:t>
            </a:r>
          </a:p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4B5563"/>
                </a:solidFill>
                <a:latin typeface="Arial"/>
              </a:rPr>
              <a:t>claim it can't back up. Four steps. One of them is a human.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371600"/>
            <a:ext cx="9811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Consolas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81151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41A22"/>
                </a:solidFill>
                <a:latin typeface="Georgia"/>
              </a:rPr>
              <a:t>Figure out the real hidden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063240"/>
            <a:ext cx="8686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An AI reads the search word and comes up with at least four specific,</a:t>
            </a:r>
          </a:p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different reasons someone might be searching it — each backed by real</a:t>
            </a:r>
          </a:p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evidence for why that reason exists, and why the usual content misses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371600"/>
            <a:ext cx="9811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Consolas"/>
              </a:rPr>
              <a:t>STEP 2 — THE ONLY HUMAN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81151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41A22"/>
                </a:solidFill>
                <a:latin typeface="Georgia"/>
              </a:rPr>
              <a:t>A person picks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063240"/>
            <a:ext cx="8686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Everything else in this process is automated. This one isn't: a real</a:t>
            </a:r>
          </a:p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person looks at those four-plus options and chooses which real question</a:t>
            </a:r>
          </a:p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this piece of writing is actually going to answer.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371600"/>
            <a:ext cx="9811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Consolas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81151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41A22"/>
                </a:solidFill>
                <a:latin typeface="Georgia"/>
              </a:rPr>
              <a:t>Write like someone who's actually been there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063240"/>
            <a:ext cx="8686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A second AI drafts the answer in first person — specific detail, the</a:t>
            </a:r>
          </a:p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downsides included. Not a marketing voice. A real person's voice.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371600"/>
            <a:ext cx="9811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Consolas"/>
              </a:rP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81151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41A22"/>
                </a:solidFill>
                <a:latin typeface="Georgia"/>
              </a:rPr>
              <a:t>A skeptical reviewer checks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063240"/>
            <a:ext cx="8686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A separate, independent AI reads the draft looking for exactly one</a:t>
            </a:r>
          </a:p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thing: any claim it can't back up. Found one? Back it goes for a</a:t>
            </a:r>
          </a:p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rewrite. Then it's checked again — as many times as it takes.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Consolas"/>
              </a:rPr>
              <a:t>A REAL ONE IT CAUGHT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628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1A22"/>
                </a:solidFill>
                <a:latin typeface="Georgia"/>
              </a:rPr>
              <a:t>Here's an actual catch, not a made-up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65960"/>
            <a:ext cx="10360152" cy="1417320"/>
          </a:xfrm>
          <a:prstGeom prst="roundRect">
            <a:avLst>
              <a:gd name="adj" fmla="val 6000"/>
            </a:avLst>
          </a:prstGeom>
          <a:solidFill>
            <a:srgbClr val="FBEAE6"/>
          </a:solidFill>
          <a:ln w="15875">
            <a:solidFill>
              <a:srgbClr val="A84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21408"/>
            <a:ext cx="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" b="0" i="0">
                <a:solidFill>
                  <a:srgbClr val="A8412E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21408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8412E"/>
                </a:solidFill>
                <a:latin typeface="Consolas"/>
              </a:rPr>
              <a:t>DRAFT — FLAGGED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50592"/>
            <a:ext cx="9784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141A22"/>
                </a:solidFill>
                <a:latin typeface="Arial"/>
              </a:rPr>
              <a:t>Honestly, these are probably the best-connected platforms on the market.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20440"/>
            <a:ext cx="10360152" cy="1417320"/>
          </a:xfrm>
          <a:prstGeom prst="roundRect">
            <a:avLst>
              <a:gd name="adj" fmla="val 6000"/>
            </a:avLst>
          </a:prstGeom>
          <a:solidFill>
            <a:srgbClr val="E4F3EC"/>
          </a:solidFill>
          <a:ln w="15875">
            <a:solidFill>
              <a:srgbClr val="1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675887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5C"/>
                </a:solidFill>
                <a:latin typeface="Consolas"/>
              </a:rPr>
              <a:t>REWRITE —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005072"/>
            <a:ext cx="9784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41A22"/>
                </a:solidFill>
                <a:latin typeface="Arial"/>
              </a:rPr>
              <a:t>The steadiest of the few I've personally tried — but I can't say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41A22"/>
                </a:solidFill>
                <a:latin typeface="Arial"/>
              </a:rPr>
              <a:t>it's the best out there.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3628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4B5563"/>
                </a:solidFill>
                <a:latin typeface="Arial"/>
              </a:rPr>
              <a:t>One person's experience isn't proof about “the market.”</a:t>
            </a:r>
          </a:p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4B5563"/>
                </a:solidFill>
                <a:latin typeface="Arial"/>
              </a:rPr>
              <a:t>The rewrite fixed exactly that — nothing else.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Consolas"/>
              </a:rPr>
              <a:t>THE PART WE DIDN'T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575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700" b="0" i="0">
                <a:solidFill>
                  <a:srgbClr val="141A22"/>
                </a:solidFill>
                <a:latin typeface="Georgia"/>
              </a:rPr>
              <a:t>We also ran the whole process for real — nothing</a:t>
            </a:r>
          </a:p>
          <a:p>
            <a:pPr algn="ctr">
              <a:lnSpc>
                <a:spcPct val="125000"/>
              </a:lnSpc>
            </a:pPr>
            <a:r>
              <a:rPr sz="2700" b="0" i="0">
                <a:solidFill>
                  <a:srgbClr val="141A22"/>
                </a:solidFill>
                <a:latin typeface="Georgia"/>
              </a:rPr>
              <a:t>staged, against an independent AI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3104" y="4114800"/>
            <a:ext cx="5486400" cy="640080"/>
          </a:xfrm>
          <a:prstGeom prst="roundRect">
            <a:avLst>
              <a:gd name="adj" fmla="val 50000"/>
            </a:avLst>
          </a:prstGeom>
          <a:solidFill>
            <a:srgbClr val="FB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A8412E"/>
                </a:solidFill>
                <a:latin typeface="Consolas"/>
              </a:rPr>
              <a:t>3 ROUNDS OF REVIEW.  ALL 3 FAILED.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85800"/>
            <a:ext cx="981151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 i="0">
                <a:solidFill>
                  <a:srgbClr val="141A22"/>
                </a:solidFill>
                <a:latin typeface="Georgia"/>
              </a:rPr>
              <a:t>Why? The reviewer kept asking for something one</a:t>
            </a:r>
          </a:p>
          <a:p>
            <a:pPr algn="ctr">
              <a:lnSpc>
                <a:spcPct val="125000"/>
              </a:lnSpc>
            </a:pPr>
            <a:r>
              <a:rPr sz="2400" b="0" i="0">
                <a:solidFill>
                  <a:srgbClr val="141A22"/>
                </a:solidFill>
                <a:latin typeface="Georgia"/>
              </a:rPr>
              <a:t>honest person's account genuinely can't supply: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0927" y="228600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0927" y="25146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0" i="0">
                <a:solidFill>
                  <a:srgbClr val="A8412E"/>
                </a:solidFill>
                <a:latin typeface="Arial"/>
              </a:rPr>
              <a:t>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3807" y="32918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4B5563"/>
                </a:solidFill>
                <a:latin typeface="Arial"/>
              </a:rPr>
              <a:t>a named regulator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5647" y="228600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5647" y="25146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0" i="0">
                <a:solidFill>
                  <a:srgbClr val="A8412E"/>
                </a:solidFill>
                <a:latin typeface="Arial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8527" y="32918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4B5563"/>
                </a:solidFill>
                <a:latin typeface="Arial"/>
              </a:rPr>
              <a:t>an actual license number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0367" y="228600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0367" y="25146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0" i="0">
                <a:solidFill>
                  <a:srgbClr val="A8412E"/>
                </a:solidFill>
                <a:latin typeface="Arial"/>
              </a:rP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247" y="32918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4B5563"/>
                </a:solidFill>
                <a:latin typeface="Arial"/>
              </a:rPr>
              <a:t>a source anyone could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97680"/>
            <a:ext cx="94457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4B5563"/>
                </a:solidFill>
                <a:latin typeface="Arial"/>
              </a:rPr>
              <a:t>The draft got more honest each round — but honesty isn't</a:t>
            </a:r>
          </a:p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4B5563"/>
                </a:solidFill>
                <a:latin typeface="Arial"/>
              </a:rPr>
              <a:t>the same as proof.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41A22"/>
                </a:solidFill>
                <a:latin typeface="Georgia"/>
              </a:rPr>
              <a:t>So the system did the right 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88920"/>
            <a:ext cx="85313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It held the piece back, instead of letting softer wording</a:t>
            </a:r>
          </a:p>
          <a:p>
            <a:pPr algn="ctr">
              <a:lnSpc>
                <a:spcPct val="130000"/>
              </a:lnSpc>
            </a:pPr>
            <a:r>
              <a:rPr sz="1900" b="0" i="0">
                <a:solidFill>
                  <a:srgbClr val="4B5563"/>
                </a:solidFill>
                <a:latin typeface="Arial"/>
              </a:rPr>
              <a:t>slip through as a pass.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304" y="4023360"/>
            <a:ext cx="9144000" cy="822960"/>
          </a:xfrm>
          <a:prstGeom prst="roundRect">
            <a:avLst>
              <a:gd name="adj" fmla="val 50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7A5C"/>
                </a:solidFill>
                <a:latin typeface="Consolas"/>
              </a:rPr>
              <a:t>A TOOL THAT ALWAYS SAYS “PASS” ISN'T ACTUALLY CHECKING ANYTHING.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628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B4C8C"/>
                </a:solidFill>
                <a:latin typeface="Consolas"/>
              </a:rP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6015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41A22"/>
                </a:solidFill>
                <a:latin typeface="Georgia"/>
              </a:rPr>
              <a:t>A process built to earn trust — or say why it can't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520440"/>
            <a:ext cx="889711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4B5563"/>
                </a:solidFill>
                <a:latin typeface="Arial"/>
              </a:rPr>
              <a:t>A repeatable way to make AI writing prove itself before it ships,</a:t>
            </a:r>
          </a:p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4B5563"/>
                </a:solidFill>
                <a:latin typeface="Arial"/>
              </a:rPr>
              <a:t>with a full paper trail of every objection and every rewrite along the 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754880"/>
            <a:ext cx="8897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808996"/>
                </a:solidFill>
                <a:latin typeface="Arial"/>
              </a:rPr>
              <a:t>Want the fuller technical write-up? Ask for “Prove It First.”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